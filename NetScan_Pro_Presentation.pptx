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914400"/>
            <a:ext cx="10362895" cy="502920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645920"/>
            <a:ext cx="94484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300" b="1">
                <a:solidFill>
                  <a:srgbClr val="00D4FF"/>
                </a:solidFill>
              </a:defRPr>
            </a:pPr>
            <a:r>
              <a:t>NETWORK SECURITY &amp; INFRASTRUCTURE</a:t>
            </a:r>
          </a:p>
          <a:p>
            <a:pPr>
              <a:spcAft>
                <a:spcPts val="800"/>
              </a:spcAft>
              <a:defRPr sz="4400" b="1">
                <a:solidFill>
                  <a:srgbClr val="FFFFFF"/>
                </a:solidFill>
              </a:defRPr>
            </a:pPr>
            <a:r>
              <a:t>NetScan Pro</a:t>
            </a:r>
          </a:p>
          <a:p>
            <a:pPr>
              <a:spcAft>
                <a:spcPts val="2800"/>
              </a:spcAft>
              <a:defRPr sz="2000">
                <a:solidFill>
                  <a:srgbClr val="E2E8F0"/>
                </a:solidFill>
              </a:defRPr>
            </a:pPr>
            <a:r>
              <a:t>Real-Time Network Device Scanner &amp; Access Management System</a:t>
            </a:r>
          </a:p>
          <a:p>
            <a:pPr>
              <a:defRPr sz="1400">
                <a:solidFill>
                  <a:srgbClr val="9CA3AF"/>
                </a:solidFill>
              </a:defRPr>
            </a:pPr>
            <a:r>
              <a:t>Comprehensive Guide: Need, Architecture, Significance &amp; Operation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THE NEED &amp;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The Problem: The Invisible Network Challenge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2880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/>
            </a:pPr>
            <a:r>
              <a:t>📡</a:t>
            </a:r>
          </a:p>
          <a:p>
            <a:pPr>
              <a:spcAft>
                <a:spcPts val="1200"/>
              </a:spcAft>
              <a:defRPr sz="1800" b="1">
                <a:solidFill>
                  <a:srgbClr val="FFFFFF"/>
                </a:solidFill>
              </a:defRPr>
            </a:pPr>
            <a:r>
              <a:t>Network Blind Spots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In modern homes and enterprises, dozens of devices connect to Wi-Fi. Users lack visibility into what is actively connected.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80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/>
            </a:pPr>
            <a:r>
              <a:t>🛡️</a:t>
            </a:r>
          </a:p>
          <a:p>
            <a:pPr>
              <a:spcAft>
                <a:spcPts val="1200"/>
              </a:spcAft>
              <a:defRPr sz="1800" b="1">
                <a:solidFill>
                  <a:srgbClr val="FFFFFF"/>
                </a:solidFill>
              </a:defRPr>
            </a:pPr>
            <a:r>
              <a:t>Rogue &amp; Unsecured Devices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Unapproved IoT hardware, piggybacking neighbors, or rogue sniffers can join the network without raising any immediate alarm.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920240"/>
            <a:ext cx="2880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3600"/>
            </a:pPr>
            <a:r>
              <a:t>⚡</a:t>
            </a:r>
          </a:p>
          <a:p>
            <a:pPr>
              <a:spcAft>
                <a:spcPts val="1200"/>
              </a:spcAft>
              <a:defRPr sz="1800" b="1">
                <a:solidFill>
                  <a:srgbClr val="FFFFFF"/>
                </a:solidFill>
              </a:defRPr>
            </a:pPr>
            <a:r>
              <a:t>Troubleshooting Friction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Diagnosing printer disconnects or server latency requires complex CLI commands (ping, arp, nmap) or router admin logins.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SYSTEM 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How NetScan Pro Operates: 5 Core Steps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28655" cy="8229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709928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4FF"/>
                </a:solidFill>
              </a:defRPr>
            </a:pPr>
            <a:r>
              <a:t>1. Subnet &amp; Interface Auto-Detection — </a:t>
            </a:r>
            <a:r>
              <a:rPr sz="1300" b="0">
                <a:solidFill>
                  <a:srgbClr val="FFFFFF"/>
                </a:solidFill>
              </a:rPr>
              <a:t>Inspects physical network adapters (Wi-Fi/Ethernet) to detect host IP and calculate the CIDR subnet (e.g., 192.168.1.0/24 or 172.20.160.0/19).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60320"/>
            <a:ext cx="10728655" cy="8229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670048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4FF"/>
                </a:solidFill>
              </a:defRPr>
            </a:pPr>
            <a:r>
              <a:t>2. Batched Ping Sweeps &amp; Concurrency — </a:t>
            </a:r>
            <a:r>
              <a:rPr sz="1300" b="0">
                <a:solidFill>
                  <a:srgbClr val="FFFFFF"/>
                </a:solidFill>
              </a:rPr>
              <a:t>Executes concurrency-controlled ping sweeps across all 254 IP addresses every 6 seconds to discover alive hosts and measure latency without freezing.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520440"/>
            <a:ext cx="10728655" cy="8229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630168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4FF"/>
                </a:solidFill>
              </a:defRPr>
            </a:pPr>
            <a:r>
              <a:t>3. ARP Inspection &amp; Hardware OUI Resolution — </a:t>
            </a:r>
            <a:r>
              <a:rPr sz="1300" b="0">
                <a:solidFill>
                  <a:srgbClr val="FFFFFF"/>
                </a:solidFill>
              </a:rPr>
              <a:t>Extracts hardware MAC addresses from the ARP cache and matches OUI prefixes to identify manufacturers (Apple, Samsung, Intel, HP).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80560"/>
            <a:ext cx="10728655" cy="8229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590288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4FF"/>
                </a:solidFill>
              </a:defRPr>
            </a:pPr>
            <a:r>
              <a:t>4. Targeted Unicast IP Probing (⚡ Probe IP) — </a:t>
            </a:r>
            <a:r>
              <a:rPr sz="1300" b="0">
                <a:solidFill>
                  <a:srgbClr val="FFFFFF"/>
                </a:solidFill>
              </a:rPr>
              <a:t>Allows administrators to enter custom IPs (e.g., 172.20.181.188) to probe and track cross-subnet nodes or silent clients on demand.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440680"/>
            <a:ext cx="10728655" cy="82296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550408"/>
            <a:ext cx="10149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0D4FF"/>
                </a:solidFill>
              </a:defRPr>
            </a:pPr>
            <a:r>
              <a:t>5. SQLite Persistence &amp; Live WebSocket Sync — </a:t>
            </a:r>
            <a:r>
              <a:rPr sz="1300" b="0">
                <a:solidFill>
                  <a:srgbClr val="FFFFFF"/>
                </a:solidFill>
              </a:rPr>
              <a:t>Logs every connection/disconnection event permanently in SQLite with timestamps and broadcasts live state updates via Socket.IO.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FEATURE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Key Features &amp; Capabilities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828800"/>
            <a:ext cx="29718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🎯  ⚡ On-Demand Target Probing (Probe IP)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Enter any specific IP to send direct ICMP/ARP probes and force-track custom or cross-subnet nodes.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290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0" y="1828800"/>
            <a:ext cx="29718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💾  📜 Persistent DB History &amp; CSV Export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Full historical audit trail in SQLite recording every connect/disconnect event with 1-click CSV download.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290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828800"/>
            <a:ext cx="29718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🏷️  🏷️ Hardware Vendor Identification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Automatic MAC OUI dictionary matching identifies Apple, Samsung, OnePlus, Dell, HP, Xiaomi, and Google devices.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77639"/>
            <a:ext cx="34290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4160519"/>
            <a:ext cx="29718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🔔  🔔 Real-Time Live Toast Alerts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Instant green/red popups when devices connect or drop off without requiring page reloads.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977639"/>
            <a:ext cx="34290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4160519"/>
            <a:ext cx="29718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⏱️  ⏱️ Dynamic Live Uptime &amp; Latency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Displays active session uptime counters and sub-millisecond round-trip latency badges.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3977639"/>
            <a:ext cx="34290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4160519"/>
            <a:ext cx="29718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FFFF"/>
                </a:solidFill>
              </a:defRPr>
            </a:pPr>
            <a:r>
              <a:t>🛡️  🛡️ Role-Based Access Control (RBAC)</a:t>
            </a:r>
          </a:p>
          <a:p>
            <a:pPr>
              <a:defRPr sz="1200">
                <a:solidFill>
                  <a:srgbClr val="9CA3AF"/>
                </a:solidFill>
              </a:defRPr>
            </a:pPr>
            <a:r>
              <a:t>Secure dual-role system (Admin vs User) with bcrypt password hashing and user governance.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SECURITY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Role-Based Access Control (RBAC)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00D4FF"/>
                </a:solidFill>
              </a:defRPr>
            </a:pPr>
            <a:r>
              <a:t>👤  Standard User Role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Full access to the live Network Dashboard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View active &amp; offline devices with real-time latency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Perform on-demand network scans &amp; search filters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Receive live connection &amp; disconnection toast alerts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Restricted from viewing or altering system user accounts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645920"/>
            <a:ext cx="5120640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57200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 b="1">
                <a:solidFill>
                  <a:srgbClr val="A855F7"/>
                </a:solidFill>
              </a:defRPr>
            </a:pPr>
            <a:r>
              <a:t>🛡️  Administrator Role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All privileges of a Standard User (Dual Access)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Dedicated Admin Panel for user account management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Promote or demote user roles dynamically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Delete obsolete accounts and audit logins</a:t>
            </a:r>
          </a:p>
          <a:p>
            <a:pPr>
              <a:spcAft>
                <a:spcPts val="800"/>
              </a:spcAft>
              <a:defRPr sz="1300">
                <a:solidFill>
                  <a:srgbClr val="FFFFFF"/>
                </a:solidFill>
              </a:defRPr>
            </a:pPr>
            <a:r>
              <a:t>• View enterprise analytics (Active 24h, total accounts, join dates)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FULL-STACK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Technical Architecture &amp; Tech Stack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29000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920240"/>
            <a:ext cx="2880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00D4FF"/>
                </a:solidFill>
              </a:defRPr>
            </a:pPr>
            <a:r>
              <a:t>FRONTEND LAYER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</a:defRPr>
            </a:pPr>
            <a:r>
              <a:t>React 19 + Vite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High-performance SPA with modular components, responsive CSS Grid layout, real-time Socket.io-client bindings, and Auth context.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29000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1920240"/>
            <a:ext cx="2880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A855F7"/>
                </a:solidFill>
              </a:defRPr>
            </a:pPr>
            <a:r>
              <a:t>BACKEND &amp; SCANNER ENGINE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</a:defRPr>
            </a:pPr>
            <a:r>
              <a:t>Express 5 + Socket.io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Node.js REST API with batched child-process ping sweeps, reverse DNS resolution, and bidirectional WebSocket event streams.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29000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22C5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0" y="1920240"/>
            <a:ext cx="28803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00" b="1">
                <a:solidFill>
                  <a:srgbClr val="22C55E"/>
                </a:solidFill>
              </a:defRPr>
            </a:pPr>
            <a:r>
              <a:t>DATABASE &amp; SECURITY</a:t>
            </a:r>
          </a:p>
          <a:p>
            <a:pPr>
              <a:spcAft>
                <a:spcPts val="1400"/>
              </a:spcAft>
              <a:defRPr sz="1800" b="1">
                <a:solidFill>
                  <a:srgbClr val="FFFFFF"/>
                </a:solidFill>
              </a:defRPr>
            </a:pPr>
            <a:r>
              <a:t>SQLite (better-sqlite3) + JWT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Lightweight, zero-config relational database with bcrypt-hashed passwords, JWT tokens, and live role validation middleware.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PRACTICAL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Real-World Use Cases &amp; Practical Applications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52578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2880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🏠  Home Security &amp; IoT Management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Track smart speakers, IP cameras, Smart TVs, and phones. Detect unknown or neighbor devices immediately if your Wi-Fi password is compromised.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645920"/>
            <a:ext cx="52578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828800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🏢  Office &amp; Small Business IT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Maintain a live inventory of employee workstations, servers, and shared network printers without purchasing expensive enterprise network tools.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2578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4160519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📊  Network Performance &amp; Health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Identify dead zones, weak Wi-Fi signals, high-latency devices, and dropped packets in real time directly from any web browser.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977639"/>
            <a:ext cx="5257800" cy="214884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160519"/>
            <a:ext cx="470916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FFFFFF"/>
                </a:solidFill>
              </a:defRPr>
            </a:pPr>
            <a:r>
              <a:t>🔬  Lab &amp; Development Environments</a:t>
            </a:r>
          </a:p>
          <a:p>
            <a:pPr>
              <a:defRPr sz="1300">
                <a:solidFill>
                  <a:srgbClr val="9CA3AF"/>
                </a:solidFill>
              </a:defRPr>
            </a:pPr>
            <a:r>
              <a:t>Easily find dynamic DHCP IP addresses assigned to Raspberry Pis, microcontrollers, test servers, and VMs without looking up router tables.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3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0D4FF"/>
                </a:solidFill>
              </a:defRPr>
            </a:pPr>
            <a: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77724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FFFFF"/>
                </a:solidFill>
              </a:defRPr>
            </a:pPr>
            <a:r>
              <a:t>Conclusion &amp; Future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728655" cy="4389120"/>
          </a:xfrm>
          <a:prstGeom prst="roundRect">
            <a:avLst/>
          </a:prstGeom>
          <a:solidFill>
            <a:srgbClr val="1C2541"/>
          </a:solidFill>
          <a:ln w="15240">
            <a:solidFill>
              <a:srgbClr val="00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9966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 b="1">
                <a:solidFill>
                  <a:srgbClr val="00D4FF"/>
                </a:solidFill>
              </a:defRPr>
            </a:pPr>
            <a:r>
              <a:t>Why NetScan Pro Stands Out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</a:defRPr>
            </a:pPr>
            <a:r>
              <a:t>✔  Zero-Configuration Discovery: Automatically sweeps local subnets and provides targeted unicast (⚡ Probe IP) for custom network nodes.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</a:defRPr>
            </a:pPr>
            <a:r>
              <a:t>✔  Hardware Brand Recognition: Resolves manufacturer details (Apple, Samsung, Intel, etc.) directly from hardware MAC OUI prefixes.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</a:defRPr>
            </a:pPr>
            <a:r>
              <a:t>✔  Auditable DB Persistence: Permanently stores all connection/disconnection logs in SQLite with 1-click CSV report exports.</a:t>
            </a:r>
          </a:p>
          <a:p>
            <a:pPr>
              <a:spcAft>
                <a:spcPts val="1000"/>
              </a:spcAft>
              <a:defRPr sz="1400">
                <a:solidFill>
                  <a:srgbClr val="FFFFFF"/>
                </a:solidFill>
              </a:defRPr>
            </a:pPr>
            <a:r>
              <a:t>✔  Enterprise Governance &amp; Live Alerts: Secure dual-role RBAC authentication combined with sub-second WebSocket toast notifications.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